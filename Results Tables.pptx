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520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4094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765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7878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381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46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8073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22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832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329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0346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413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981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0204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1521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4217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411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0633FE0-F236-4671-B00B-3104993E4938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D6F6EE5-1871-4F61-9758-53958FC4950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454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8EEB5-9511-55F4-7BD4-0FCF19C1B5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Tablas de resultados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5DBBF4-E40B-7020-DE1F-F77D4A9483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2460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09A1A0-A621-1420-0080-64D91B36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GB" sz="2000" b="1"/>
              <a:t>Data: TTS</a:t>
            </a:r>
            <a:br>
              <a:rPr lang="es-MX" sz="2000"/>
            </a:br>
            <a:r>
              <a:rPr lang="en-GB" sz="2000" b="1"/>
              <a:t>Método de validación: Hold – Out 70 – 30</a:t>
            </a:r>
            <a:br>
              <a:rPr lang="es-MX" sz="2000"/>
            </a:br>
            <a:r>
              <a:rPr lang="en-GB" sz="2000" b="1"/>
              <a:t>Modelo: XGBoost</a:t>
            </a:r>
            <a:br>
              <a:rPr lang="en-GB" sz="2000" b="1"/>
            </a:br>
            <a:r>
              <a:rPr lang="en-GB" sz="2000" b="1"/>
              <a:t>Location: NO</a:t>
            </a:r>
            <a:br>
              <a:rPr lang="es-MX" sz="2000"/>
            </a:br>
            <a:endParaRPr lang="es-MX" sz="200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416AB07-4FFC-4C61-690E-4EE10D3CE6E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00026145"/>
              </p:ext>
            </p:extLst>
          </p:nvPr>
        </p:nvGraphicFramePr>
        <p:xfrm>
          <a:off x="1242645" y="2532475"/>
          <a:ext cx="10576091" cy="302906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989628">
                  <a:extLst>
                    <a:ext uri="{9D8B030D-6E8A-4147-A177-3AD203B41FA5}">
                      <a16:colId xmlns:a16="http://schemas.microsoft.com/office/drawing/2014/main" val="3930815559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883537800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3769716356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3182105410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806209421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478796797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820974923"/>
                    </a:ext>
                  </a:extLst>
                </a:gridCol>
              </a:tblGrid>
              <a:tr h="372831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 dirty="0">
                          <a:effectLst/>
                        </a:rPr>
                        <a:t>METRIC</a:t>
                      </a:r>
                      <a:endParaRPr lang="es-MX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Non-spatial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Queen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Knn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7447"/>
                  </a:ext>
                </a:extLst>
              </a:tr>
              <a:tr h="37283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extLst>
                  <a:ext uri="{0D108BD9-81ED-4DB2-BD59-A6C34878D82A}">
                    <a16:rowId xmlns:a16="http://schemas.microsoft.com/office/drawing/2014/main" val="462042783"/>
                  </a:ext>
                </a:extLst>
              </a:tr>
              <a:tr h="3468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RMSE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0.01515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0.07941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0.02267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0.07683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  <a:latin typeface="Aptos Narrow" panose="020B0004020202020204" pitchFamily="34" charset="0"/>
                        </a:rPr>
                        <a:t>0.002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  <a:latin typeface="Aptos Narrow" panose="020B0004020202020204" pitchFamily="34" charset="0"/>
                        </a:rPr>
                        <a:t>0.08307</a:t>
                      </a:r>
                    </a:p>
                  </a:txBody>
                  <a:tcPr marL="114197" marR="114197" marT="0" marB="0"/>
                </a:tc>
                <a:extLst>
                  <a:ext uri="{0D108BD9-81ED-4DB2-BD59-A6C34878D82A}">
                    <a16:rowId xmlns:a16="http://schemas.microsoft.com/office/drawing/2014/main" val="485096667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Pearson Correlation 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0.99059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0.37132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0.97826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0.41717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0.99979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0.39167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extLst>
                  <a:ext uri="{0D108BD9-81ED-4DB2-BD59-A6C34878D82A}">
                    <a16:rowId xmlns:a16="http://schemas.microsoft.com/office/drawing/2014/main" val="175231398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Spearman_ Correlation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0.9568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0.56475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0.9198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0.58021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0.99848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0.57679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extLst>
                  <a:ext uri="{0D108BD9-81ED-4DB2-BD59-A6C34878D82A}">
                    <a16:rowId xmlns:a16="http://schemas.microsoft.com/office/drawing/2014/main" val="3592128653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Standar deviation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0.01516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0.07901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0.02268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effectLst/>
                          <a:latin typeface="Aptos Narrow" panose="020B0004020202020204" pitchFamily="34" charset="0"/>
                        </a:rPr>
                        <a:t>0.07665</a:t>
                      </a:r>
                      <a:endParaRPr lang="es-MX" sz="200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0.002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effectLst/>
                          <a:latin typeface="Aptos Narrow" panose="020B0004020202020204" pitchFamily="34" charset="0"/>
                        </a:rPr>
                        <a:t>0.0824</a:t>
                      </a:r>
                      <a:endParaRPr lang="es-MX" sz="200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extLst>
                  <a:ext uri="{0D108BD9-81ED-4DB2-BD59-A6C34878D82A}">
                    <a16:rowId xmlns:a16="http://schemas.microsoft.com/office/drawing/2014/main" val="3752929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17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4B10B-D806-C07F-568C-35EC31D27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E4BA2-48F4-B074-D71A-D0C0DD1C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GB" sz="2000" b="1" dirty="0"/>
              <a:t>Data: phone 05</a:t>
            </a:r>
            <a:br>
              <a:rPr lang="es-MX" sz="2000" dirty="0"/>
            </a:br>
            <a:r>
              <a:rPr lang="en-GB" sz="2000" b="1" dirty="0"/>
              <a:t>Método de validación: Hold – Out 70 – 30</a:t>
            </a:r>
            <a:br>
              <a:rPr lang="es-MX" sz="2000" dirty="0"/>
            </a:br>
            <a:r>
              <a:rPr lang="en-GB" sz="2000" b="1" dirty="0"/>
              <a:t>Modelo: XGBoost</a:t>
            </a:r>
            <a:br>
              <a:rPr lang="en-GB" sz="2000" b="1" dirty="0"/>
            </a:br>
            <a:r>
              <a:rPr lang="en-GB" sz="2000" b="1" dirty="0"/>
              <a:t>Location: NO</a:t>
            </a:r>
            <a:br>
              <a:rPr lang="es-MX" sz="2000" dirty="0"/>
            </a:br>
            <a:endParaRPr lang="es-MX" sz="20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81A48E4-515D-3BEA-DED5-A9C3479ED75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83585392"/>
              </p:ext>
            </p:extLst>
          </p:nvPr>
        </p:nvGraphicFramePr>
        <p:xfrm>
          <a:off x="1242645" y="2532475"/>
          <a:ext cx="10576091" cy="302906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989628">
                  <a:extLst>
                    <a:ext uri="{9D8B030D-6E8A-4147-A177-3AD203B41FA5}">
                      <a16:colId xmlns:a16="http://schemas.microsoft.com/office/drawing/2014/main" val="3930815559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883537800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3769716356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3182105410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806209421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478796797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820974923"/>
                    </a:ext>
                  </a:extLst>
                </a:gridCol>
              </a:tblGrid>
              <a:tr h="372831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 dirty="0">
                          <a:effectLst/>
                        </a:rPr>
                        <a:t>METRIC</a:t>
                      </a:r>
                      <a:endParaRPr lang="es-MX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Non-spatial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Queen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Knn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7447"/>
                  </a:ext>
                </a:extLst>
              </a:tr>
              <a:tr h="37283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extLst>
                  <a:ext uri="{0D108BD9-81ED-4DB2-BD59-A6C34878D82A}">
                    <a16:rowId xmlns:a16="http://schemas.microsoft.com/office/drawing/2014/main" val="462042783"/>
                  </a:ext>
                </a:extLst>
              </a:tr>
              <a:tr h="3468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RMSE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0.0004</a:t>
                      </a:r>
                      <a:endParaRPr lang="es-MX" sz="20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0.00146</a:t>
                      </a:r>
                      <a:endParaRPr lang="es-MX" sz="20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0.0004</a:t>
                      </a:r>
                      <a:endParaRPr lang="es-MX" sz="20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0.00146</a:t>
                      </a:r>
                      <a:endParaRPr lang="es-MX" sz="20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0.000470</a:t>
                      </a:r>
                      <a:endParaRPr lang="es-MX" sz="20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0.00145</a:t>
                      </a:r>
                      <a:endParaRPr lang="es-MX" sz="20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85096667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Pearson Correlation 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0.99174</a:t>
                      </a:r>
                      <a:endParaRPr lang="es-MX" sz="20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0.88213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0.99193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0.88251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0.98862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0.88479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5231398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Spearman_ Correlation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0.98086</a:t>
                      </a:r>
                      <a:endParaRPr lang="es-MX" sz="20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0.8776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0.98096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0.87704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0.9738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0.87689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92128653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Standar deviation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0.0004</a:t>
                      </a:r>
                      <a:endParaRPr lang="es-MX" sz="20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0.00146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0.0004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0.00146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0.000470</a:t>
                      </a:r>
                      <a:endParaRPr lang="es-MX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kern="1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0.00145</a:t>
                      </a:r>
                      <a:endParaRPr lang="es-MX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52929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1210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34191-FB45-3D52-80B4-F88DDD99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18587-EA30-A0D9-5FCD-15FC90A9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GB" sz="2000" b="1" dirty="0"/>
              <a:t>Data: TTS</a:t>
            </a:r>
            <a:br>
              <a:rPr lang="es-MX" sz="2000" dirty="0"/>
            </a:br>
            <a:r>
              <a:rPr lang="en-GB" sz="2000" b="1" dirty="0"/>
              <a:t>Método de validación: blocked cv</a:t>
            </a:r>
            <a:br>
              <a:rPr lang="es-MX" sz="2000" dirty="0"/>
            </a:br>
            <a:r>
              <a:rPr lang="en-GB" sz="2000" b="1" dirty="0"/>
              <a:t>Modelo: XGBoost</a:t>
            </a:r>
            <a:br>
              <a:rPr lang="en-GB" sz="2000" b="1" dirty="0"/>
            </a:br>
            <a:r>
              <a:rPr lang="en-GB" sz="2000" b="1" dirty="0"/>
              <a:t>Location: NO</a:t>
            </a:r>
            <a:br>
              <a:rPr lang="es-MX" sz="2000" dirty="0"/>
            </a:br>
            <a:endParaRPr lang="es-MX" sz="20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A9BB3CC-8CBC-3315-CF10-D71BF01CFDB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87431200"/>
              </p:ext>
            </p:extLst>
          </p:nvPr>
        </p:nvGraphicFramePr>
        <p:xfrm>
          <a:off x="1242645" y="2532475"/>
          <a:ext cx="10576091" cy="302906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989628">
                  <a:extLst>
                    <a:ext uri="{9D8B030D-6E8A-4147-A177-3AD203B41FA5}">
                      <a16:colId xmlns:a16="http://schemas.microsoft.com/office/drawing/2014/main" val="3930815559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883537800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3769716356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3182105410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806209421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478796797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820974923"/>
                    </a:ext>
                  </a:extLst>
                </a:gridCol>
              </a:tblGrid>
              <a:tr h="372831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 dirty="0">
                          <a:effectLst/>
                        </a:rPr>
                        <a:t>METRIC</a:t>
                      </a:r>
                      <a:endParaRPr lang="es-MX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Non-spatial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Queen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Knn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7447"/>
                  </a:ext>
                </a:extLst>
              </a:tr>
              <a:tr h="37283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extLst>
                  <a:ext uri="{0D108BD9-81ED-4DB2-BD59-A6C34878D82A}">
                    <a16:rowId xmlns:a16="http://schemas.microsoft.com/office/drawing/2014/main" val="462042783"/>
                  </a:ext>
                </a:extLst>
              </a:tr>
              <a:tr h="3468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RMSE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0.014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0.088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0.013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0.085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0.019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0.078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85096667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Pearson Correlation 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0.272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0.991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0.324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0.981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0.427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5231398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Spearman_ Correlation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0.955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0.433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0.958</a:t>
                      </a:r>
                      <a:endParaRPr lang="es-MX" sz="2000" b="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0.472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0.932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0.574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92128653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Standar deviation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0.014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0.088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0.013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0.085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0.019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0.078</a:t>
                      </a:r>
                      <a:endParaRPr lang="es-MX" sz="2000" b="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52929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8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478E3-51CD-3DDF-F4DF-8C1ADB13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3B8B0-0C65-186F-6FC4-A3BBAD36D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en-GB" sz="2000" b="1" dirty="0"/>
              <a:t>Data: phone 05</a:t>
            </a:r>
            <a:br>
              <a:rPr lang="es-MX" sz="2000" dirty="0"/>
            </a:br>
            <a:r>
              <a:rPr lang="en-GB" sz="2000" b="1" dirty="0"/>
              <a:t>Método de validación: blocked cv</a:t>
            </a:r>
            <a:br>
              <a:rPr lang="es-MX" sz="2000" dirty="0"/>
            </a:br>
            <a:r>
              <a:rPr lang="en-GB" sz="2000" b="1" dirty="0"/>
              <a:t>Modelo: XGBoost</a:t>
            </a:r>
            <a:br>
              <a:rPr lang="en-GB" sz="2000" b="1" dirty="0"/>
            </a:br>
            <a:r>
              <a:rPr lang="en-GB" sz="2000" b="1" dirty="0"/>
              <a:t>Location: NO</a:t>
            </a:r>
            <a:br>
              <a:rPr lang="es-MX" sz="2000" dirty="0"/>
            </a:br>
            <a:endParaRPr lang="es-MX" sz="2000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66E8AB9-25C4-3082-9714-A45FCD13DE9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94582429"/>
              </p:ext>
            </p:extLst>
          </p:nvPr>
        </p:nvGraphicFramePr>
        <p:xfrm>
          <a:off x="1242645" y="2532475"/>
          <a:ext cx="10576091" cy="302906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989628">
                  <a:extLst>
                    <a:ext uri="{9D8B030D-6E8A-4147-A177-3AD203B41FA5}">
                      <a16:colId xmlns:a16="http://schemas.microsoft.com/office/drawing/2014/main" val="3930815559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883537800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3769716356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3182105410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806209421"/>
                    </a:ext>
                  </a:extLst>
                </a:gridCol>
                <a:gridCol w="1298035">
                  <a:extLst>
                    <a:ext uri="{9D8B030D-6E8A-4147-A177-3AD203B41FA5}">
                      <a16:colId xmlns:a16="http://schemas.microsoft.com/office/drawing/2014/main" val="478796797"/>
                    </a:ext>
                  </a:extLst>
                </a:gridCol>
                <a:gridCol w="1230786">
                  <a:extLst>
                    <a:ext uri="{9D8B030D-6E8A-4147-A177-3AD203B41FA5}">
                      <a16:colId xmlns:a16="http://schemas.microsoft.com/office/drawing/2014/main" val="820974923"/>
                    </a:ext>
                  </a:extLst>
                </a:gridCol>
              </a:tblGrid>
              <a:tr h="372831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 dirty="0">
                          <a:effectLst/>
                        </a:rPr>
                        <a:t>METRIC</a:t>
                      </a:r>
                      <a:endParaRPr lang="es-MX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Non-spatial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Queen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cap="all">
                          <a:effectLst/>
                        </a:rPr>
                        <a:t>Knn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17447"/>
                  </a:ext>
                </a:extLst>
              </a:tr>
              <a:tr h="37283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Training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Test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extLst>
                  <a:ext uri="{0D108BD9-81ED-4DB2-BD59-A6C34878D82A}">
                    <a16:rowId xmlns:a16="http://schemas.microsoft.com/office/drawing/2014/main" val="462042783"/>
                  </a:ext>
                </a:extLst>
              </a:tr>
              <a:tr h="3468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RMSE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0.002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0.002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0.002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485096667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Pearson Correlation 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0.991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0.829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0.845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0.989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0.848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5231398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 dirty="0">
                          <a:effectLst/>
                        </a:rPr>
                        <a:t>Spearman_ </a:t>
                      </a:r>
                      <a:r>
                        <a:rPr lang="es-MX" sz="1800" kern="100" cap="all" dirty="0" err="1">
                          <a:effectLst/>
                        </a:rPr>
                        <a:t>Correlation</a:t>
                      </a:r>
                      <a:endParaRPr lang="es-MX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0.979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0.844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0.981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0.855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0.976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0.845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592128653"/>
                  </a:ext>
                </a:extLst>
              </a:tr>
              <a:tr h="6455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800" kern="100" cap="all">
                          <a:effectLst/>
                        </a:rPr>
                        <a:t>Standar deviation</a:t>
                      </a:r>
                      <a:endParaRPr lang="es-MX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197" marR="114197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cap="all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0.002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0.002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MX" sz="2000" b="0" kern="10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2000" b="0" kern="1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0.002</a:t>
                      </a:r>
                      <a:endParaRPr lang="es-MX" sz="2000" b="0" kern="100" dirty="0">
                        <a:effectLst/>
                        <a:latin typeface="Aptos Narrow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752929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669772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16</TotalTime>
  <Words>257</Words>
  <Application>Microsoft Office PowerPoint</Application>
  <PresentationFormat>Panorámica</PresentationFormat>
  <Paragraphs>157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Narrow</vt:lpstr>
      <vt:lpstr>Arial</vt:lpstr>
      <vt:lpstr>Tw Cen MT</vt:lpstr>
      <vt:lpstr>Gota</vt:lpstr>
      <vt:lpstr>Tablas de resultados</vt:lpstr>
      <vt:lpstr>Data: TTS Método de validación: Hold – Out 70 – 30 Modelo: XGBoost Location: NO </vt:lpstr>
      <vt:lpstr>Data: phone 05 Método de validación: Hold – Out 70 – 30 Modelo: XGBoost Location: NO </vt:lpstr>
      <vt:lpstr>Data: TTS Método de validación: blocked cv Modelo: XGBoost Location: NO </vt:lpstr>
      <vt:lpstr>Data: phone 05 Método de validación: blocked cv Modelo: XGBoost Location: NO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Ignacio Vilchis García</dc:creator>
  <cp:lastModifiedBy>Juan Ignacio Vilchis García</cp:lastModifiedBy>
  <cp:revision>1</cp:revision>
  <dcterms:created xsi:type="dcterms:W3CDTF">2025-10-23T14:32:02Z</dcterms:created>
  <dcterms:modified xsi:type="dcterms:W3CDTF">2025-10-23T14:48:03Z</dcterms:modified>
</cp:coreProperties>
</file>